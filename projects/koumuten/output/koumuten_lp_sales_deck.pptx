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t>工務店専門LP制作サービス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Web集客で問い合わせ数を2倍に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こんなお悩みありませんか？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• チラシ・ポータルサイト依存から抜け出せない</a:t>
            </a:r>
          </a:p>
          <a:p>
            <a:pPr>
              <a:spcAft>
                <a:spcPts val="1200"/>
              </a:spcAft>
              <a:defRPr sz="2400"/>
            </a:pPr>
            <a:r>
              <a:t>• ホームページはあるが問い合わせが来ない</a:t>
            </a:r>
          </a:p>
          <a:p>
            <a:pPr>
              <a:spcAft>
                <a:spcPts val="1200"/>
              </a:spcAft>
              <a:defRPr sz="2400"/>
            </a:pPr>
            <a:r>
              <a:t>• 見学会の集客に苦戦している</a:t>
            </a:r>
          </a:p>
          <a:p>
            <a:pPr>
              <a:spcAft>
                <a:spcPts val="1200"/>
              </a:spcAft>
              <a:defRPr sz="2400"/>
            </a:pPr>
            <a:r>
              <a:t>• Web広告を出しても成果が出ない</a:t>
            </a:r>
          </a:p>
          <a:p>
            <a:pPr>
              <a:spcAft>
                <a:spcPts val="1200"/>
              </a:spcAft>
              <a:defRPr sz="2400"/>
            </a:pPr>
            <a:r>
              <a:t>• SNSをやっているが問い合わせに繋がらない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工務店業界の現状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10728655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64327"/>
                <a:gridCol w="5364328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800"/>
                      </a:pPr>
                      <a:r>
                        <a:t>指標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800"/>
                      </a:pPr>
                      <a:r>
                        <a:t>数値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新設住宅着工戸数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前年比 -4.6%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持家着工戸数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前年比 -11.4%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工務店数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約40万社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Web集客対応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多くが未対応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HPとLPの違い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10728655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6218"/>
                <a:gridCol w="3576218"/>
                <a:gridCol w="3576219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800"/>
                      </a:pPr>
                      <a:r>
                        <a:t>項目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800"/>
                      </a:pPr>
                      <a:r>
                        <a:t>ホームページ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800"/>
                      </a:pPr>
                      <a:r>
                        <a:t>LP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目的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会社紹介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1つの行動を促す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情報量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多い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絞られている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離脱率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高い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低い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CV率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1-2%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3-10%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LPの効果（実績）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• 【完成見学会LP】来場3組 → 9組（3倍）</a:t>
            </a:r>
          </a:p>
          <a:p>
            <a:pPr>
              <a:spcAft>
                <a:spcPts val="1200"/>
              </a:spcAft>
              <a:defRPr sz="2400"/>
            </a:pPr>
            <a:r>
              <a:t>• 【リフォームLP】月3件 → 月15件（5倍）</a:t>
            </a:r>
          </a:p>
          <a:p>
            <a:pPr>
              <a:spcAft>
                <a:spcPts val="1200"/>
              </a:spcAft>
              <a:defRPr sz="2400"/>
            </a:pPr>
            <a:r>
              <a:t>• 【採用LP】応募0件 → 月5件</a:t>
            </a:r>
          </a:p>
          <a:p>
            <a:pPr>
              <a:spcAft>
                <a:spcPts val="1200"/>
              </a:spcAft>
              <a:defRPr sz="2400"/>
            </a:pPr>
            <a:r>
              <a:t>• </a:t>
            </a:r>
          </a:p>
          <a:p>
            <a:pPr>
              <a:spcAft>
                <a:spcPts val="1200"/>
              </a:spcAft>
              <a:defRPr sz="2400"/>
            </a:pPr>
            <a:r>
              <a:t>• → LPは「問い合わせ獲得マシン」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私たちの強み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• 【工務店専門】業界用語・慣習を理解。工務店特有の訴求ポイントを熟知</a:t>
            </a:r>
          </a:p>
          <a:p>
            <a:pPr>
              <a:spcAft>
                <a:spcPts val="1200"/>
              </a:spcAft>
              <a:defRPr sz="2400"/>
            </a:pPr>
            <a:r>
              <a:t>• 【成果にコミット】問い合わせ保証プランあり。公開後の改善提案</a:t>
            </a:r>
          </a:p>
          <a:p>
            <a:pPr>
              <a:spcAft>
                <a:spcPts val="1200"/>
              </a:spcAft>
              <a:defRPr sz="2400"/>
            </a:pPr>
            <a:r>
              <a:t>• 【スピード対応】最短2週間で公開。見学会に間に合う短納期対応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サービス内容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• 競合調査・市場分析</a:t>
            </a:r>
          </a:p>
          <a:p>
            <a:pPr>
              <a:spcAft>
                <a:spcPts val="1200"/>
              </a:spcAft>
              <a:defRPr sz="2400"/>
            </a:pPr>
            <a:r>
              <a:t>• 構成案作成（ワイヤーフレーム）</a:t>
            </a:r>
          </a:p>
          <a:p>
            <a:pPr>
              <a:spcAft>
                <a:spcPts val="1200"/>
              </a:spcAft>
              <a:defRPr sz="2400"/>
            </a:pPr>
            <a:r>
              <a:t>• デザイン制作</a:t>
            </a:r>
          </a:p>
          <a:p>
            <a:pPr>
              <a:spcAft>
                <a:spcPts val="1200"/>
              </a:spcAft>
              <a:defRPr sz="2400"/>
            </a:pPr>
            <a:r>
              <a:t>• コーディング・実装（スマホ対応）</a:t>
            </a:r>
          </a:p>
          <a:p>
            <a:pPr>
              <a:spcAft>
                <a:spcPts val="1200"/>
              </a:spcAft>
              <a:defRPr sz="2400"/>
            </a:pPr>
            <a:r>
              <a:t>• フォーム設置</a:t>
            </a:r>
          </a:p>
          <a:p>
            <a:pPr>
              <a:spcAft>
                <a:spcPts val="1200"/>
              </a:spcAft>
              <a:defRPr sz="2400"/>
            </a:pPr>
            <a:r>
              <a:t>• 公開後1ヶ月サポート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制作の流れ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• 1週目: ヒアリング・競合調査</a:t>
            </a:r>
          </a:p>
          <a:p>
            <a:pPr>
              <a:spcAft>
                <a:spcPts val="1200"/>
              </a:spcAft>
              <a:defRPr sz="2400"/>
            </a:pPr>
            <a:r>
              <a:t>• 2週目: 構成案・デザイン案作成</a:t>
            </a:r>
          </a:p>
          <a:p>
            <a:pPr>
              <a:spcAft>
                <a:spcPts val="1200"/>
              </a:spcAft>
              <a:defRPr sz="2400"/>
            </a:pPr>
            <a:r>
              <a:t>• 3週目: デザイン確定・コーディング</a:t>
            </a:r>
          </a:p>
          <a:p>
            <a:pPr>
              <a:spcAft>
                <a:spcPts val="1200"/>
              </a:spcAft>
              <a:defRPr sz="2400"/>
            </a:pPr>
            <a:r>
              <a:t>• 4週目: テスト・公開</a:t>
            </a:r>
          </a:p>
          <a:p>
            <a:pPr>
              <a:spcAft>
                <a:spcPts val="1200"/>
              </a:spcAft>
              <a:defRPr sz="2400"/>
            </a:pPr>
            <a:r>
              <a:t>• 公開後: 効果測定・改善提案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料金プラン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10728655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6218"/>
                <a:gridCol w="3576218"/>
                <a:gridCol w="3576219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800"/>
                      </a:pPr>
                      <a:r>
                        <a:t>プラン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800"/>
                      </a:pPr>
                      <a:r>
                        <a:t>内容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800"/>
                      </a:pPr>
                      <a:r>
                        <a:t>価格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スタンダード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LP1ページ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○○万円〜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プレミアム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LP + 広告運用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○○万円〜/月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カスタム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ご要望に応じて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要相談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よくある質問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• Q: 自社でも更新できますか？ → はい、更新マニュアルをお渡しします</a:t>
            </a:r>
          </a:p>
          <a:p>
            <a:pPr>
              <a:spcAft>
                <a:spcPts val="1200"/>
              </a:spcAft>
              <a:defRPr sz="2400"/>
            </a:pPr>
            <a:r>
              <a:t>• Q: 広告運用もお願いできますか？ → はい、Google/Meta広告に対応</a:t>
            </a:r>
          </a:p>
          <a:p>
            <a:pPr>
              <a:spcAft>
                <a:spcPts val="1200"/>
              </a:spcAft>
              <a:defRPr sz="2400"/>
            </a:pPr>
            <a:r>
              <a:t>• Q: 既存HPとの連携は？ → サブドメインまたはサブディレクトリで対応可能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次のステップ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• 【無料相談のご案内】</a:t>
            </a:r>
          </a:p>
          <a:p>
            <a:pPr>
              <a:spcAft>
                <a:spcPts val="1200"/>
              </a:spcAft>
              <a:defRPr sz="2400"/>
            </a:pPr>
            <a:r>
              <a:t>• </a:t>
            </a:r>
          </a:p>
          <a:p>
            <a:pPr>
              <a:spcAft>
                <a:spcPts val="1200"/>
              </a:spcAft>
              <a:defRPr sz="2400"/>
            </a:pPr>
            <a:r>
              <a:t>• 1. 現状ヒアリング（15分）</a:t>
            </a:r>
          </a:p>
          <a:p>
            <a:pPr>
              <a:spcAft>
                <a:spcPts val="1200"/>
              </a:spcAft>
              <a:defRPr sz="2400"/>
            </a:pPr>
            <a:r>
              <a:t>• 2. 改善ポイントのご提示</a:t>
            </a:r>
          </a:p>
          <a:p>
            <a:pPr>
              <a:spcAft>
                <a:spcPts val="1200"/>
              </a:spcAft>
              <a:defRPr sz="2400"/>
            </a:pPr>
            <a:r>
              <a:t>• 3. ご提案書の作成</a:t>
            </a:r>
          </a:p>
          <a:p>
            <a:pPr>
              <a:spcAft>
                <a:spcPts val="1200"/>
              </a:spcAft>
              <a:defRPr sz="2400"/>
            </a:pPr>
            <a:r>
              <a:t>• </a:t>
            </a:r>
          </a:p>
          <a:p>
            <a:pPr>
              <a:spcAft>
                <a:spcPts val="1200"/>
              </a:spcAft>
              <a:defRPr sz="2400"/>
            </a:pPr>
            <a:r>
              <a:t>• → まずはお気軽にご相談ください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t>お問い合わせ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Email: xxxx@example.com</a:t>
            </a:r>
            <a:br/>
            <a:r>
              <a:t>TEL: 000-0000-0000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